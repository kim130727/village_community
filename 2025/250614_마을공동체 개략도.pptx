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7" r:id="rId4"/>
    <p:sldId id="260" r:id="rId5"/>
    <p:sldId id="258" r:id="rId6"/>
    <p:sldId id="256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800000"/>
    <a:srgbClr val="003366"/>
    <a:srgbClr val="996633"/>
    <a:srgbClr val="6600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02" autoAdjust="0"/>
    <p:restoredTop sz="94660"/>
  </p:normalViewPr>
  <p:slideViewPr>
    <p:cSldViewPr snapToGrid="0">
      <p:cViewPr varScale="1">
        <p:scale>
          <a:sx n="93" d="100"/>
          <a:sy n="93" d="100"/>
        </p:scale>
        <p:origin x="4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6D179-0154-AF98-DE6C-D4DFF8380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6C31BF-66C8-F80D-231E-5687339E3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C28757-5603-9AE4-7E8E-42F99139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DEA90D-35A8-EAAA-E691-915D4892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A4A36D-0B84-B25C-E849-1713B045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05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4E187-2AB1-24E7-3031-FE5751BD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5665A-1168-5408-9BF7-66D8F6CBC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8964D-3366-9B18-22EC-7BB5B746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CB629-E5F0-21EF-4BD7-EEA2199D4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CB55C9-7271-BFEC-9324-D0B11D646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40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4C144-BCDE-6B7C-0576-D495E4B2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D58E44-9841-46E5-8931-65F60BE30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E6900-AA17-B696-8036-952C395D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BFCE4E-22BD-F7BC-765B-1D328AEDE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CE396-2772-4146-A635-4FB8C9DE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43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39B73-11D0-67BC-484C-7615CD3E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2488E-65AE-E99E-B7B9-C2D875BF0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D157CD-E8EE-0F99-4FE8-FEB942AE4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F8C33F-0D3E-8294-5A70-70FB84F9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2173AC-CC4D-B8C9-B22E-C9F30274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55B22-4158-5F9C-164F-015EFA104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67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C35F6-2038-CC29-0A88-61A3A44B6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BE04B7-159A-EBC9-2C30-51E5FBBAF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054346-E723-7680-4F7D-8433F239E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F9A8FA-F756-8C93-1D5C-33837E0CE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534438-AA7E-1E19-FC1E-0CC26FB18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F0CDFA-C78C-066B-59BC-54F22645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1F8E26-5AF2-D4FE-E9CD-A42E6B7D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8FF046-2198-51FA-1148-78D63D62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28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A7DC6-0C70-AFBF-42B2-CF6BB744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A815D9-F543-FA0B-6675-86B796CE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37D18-B00C-EF61-C33E-6906B4D0F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537917-8B67-5F6A-4D2A-AB031DF1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8B1463-B7D8-B170-B448-5A563E6D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ADCBFC-652F-6872-238D-DF5AAF65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0371AF-E4EB-9A86-0E9D-295D54D6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87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66C54-8450-CFF1-5A06-4D926D11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D9286-6FBA-816B-0C28-DE93B4B12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213168-431B-2DB4-FD46-0B1038AD4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0E8FDF-6544-3937-89DC-B444B9B82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816EA9-0612-FBDF-BF95-8EE1CC163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943D85-00D0-43F1-3785-0432B9E9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09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46325-BFFD-DB4C-B538-F6C0EE2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909BCC-79B0-2BD4-4E1F-AF51484AC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512C9C-F2A7-07CD-105E-E3A0639CA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3F8D0F-FE91-222C-95C0-293A6C13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59FEDB-6F81-7BB6-EEF1-1FC1DC0E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A18AA9-946B-43AB-BE28-69EBB4AD0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79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90CDD-51DF-98B5-A52E-39CE9015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5BB5CC-C6AA-2E86-4D37-2E3DEC8F2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6F4D4-3E8B-A76D-8EA4-C2AAB026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F0CF8-D227-C2BB-7106-316912F04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D16AE8-DAA1-BE5B-F219-EA4DB141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46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F9059A-AEE4-FB9F-0815-5E66701A0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5F1413-97EB-C701-68AB-07AA2E809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737C21-5201-990C-2A47-A8935F302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F26F93-AA22-D26E-F1C0-03879FA81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890ADA-6F7C-D075-D0C0-06D88312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34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6D663C-C3D9-C5B0-70FB-98BA570AC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A58BCE-005D-1DD4-825A-76D0ABC45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C5DA5-8878-B642-718B-B8A92FFB2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2CF2D-2469-4ACF-86B6-C8A0004373D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FB3C9B-74AA-824F-AFE3-E5DEF3E32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983BE6-081D-BC6F-BF3F-46A046831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66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4947D-6F23-2461-51E0-CA7C6BBC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9ABF03E-9174-CDF9-DC1B-B7C9EE6141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0B980F5-6B3B-B564-AD3E-F2CDE3F5F56B}"/>
              </a:ext>
            </a:extLst>
          </p:cNvPr>
          <p:cNvSpPr/>
          <p:nvPr/>
        </p:nvSpPr>
        <p:spPr>
          <a:xfrm>
            <a:off x="148183" y="168064"/>
            <a:ext cx="2049585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/>
              <a:t>회의할내용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38E74-3B89-F62C-903D-BE7B040273CC}"/>
              </a:ext>
            </a:extLst>
          </p:cNvPr>
          <p:cNvSpPr txBox="1"/>
          <p:nvPr/>
        </p:nvSpPr>
        <p:spPr>
          <a:xfrm>
            <a:off x="148183" y="1050209"/>
            <a:ext cx="100432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• </a:t>
            </a:r>
            <a:r>
              <a:rPr lang="ko-KR" altLang="en-US" sz="3600" b="1" dirty="0"/>
              <a:t>예산 확정</a:t>
            </a:r>
            <a:endParaRPr lang="en-US" altLang="ko-KR" sz="3600" b="1" dirty="0"/>
          </a:p>
          <a:p>
            <a:endParaRPr lang="en-US" altLang="ko-KR" sz="3600" b="1" dirty="0"/>
          </a:p>
          <a:p>
            <a:r>
              <a:rPr lang="en-US" altLang="ko-KR" sz="3600" b="1" dirty="0"/>
              <a:t>• </a:t>
            </a:r>
            <a:r>
              <a:rPr lang="ko-KR" altLang="en-US" sz="3600" b="1" dirty="0" err="1"/>
              <a:t>온쉼참손길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취약계층과 같이 하기</a:t>
            </a:r>
            <a:r>
              <a:rPr lang="en-US" altLang="ko-KR" sz="3600" b="1" dirty="0"/>
              <a:t>)</a:t>
            </a:r>
            <a:r>
              <a:rPr lang="ko-KR" altLang="en-US" sz="3600" b="1" dirty="0"/>
              <a:t> 기획</a:t>
            </a:r>
            <a:endParaRPr lang="en-US" altLang="ko-KR" sz="3600" b="1" dirty="0"/>
          </a:p>
          <a:p>
            <a:endParaRPr lang="en-US" altLang="ko-KR" sz="3600" b="1" dirty="0"/>
          </a:p>
          <a:p>
            <a:r>
              <a:rPr lang="en-US" altLang="ko-KR" sz="3600" b="1" dirty="0"/>
              <a:t>• </a:t>
            </a:r>
            <a:r>
              <a:rPr lang="ko-KR" altLang="en-US" sz="3600" b="1" dirty="0"/>
              <a:t>성과발표회 기획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328916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A7CE9-669D-287D-C727-FC3B6869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C745739-5CF4-FACF-5B1C-FE53EFB7CA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34C7244-786B-ED53-D661-4C7D24DF7764}"/>
              </a:ext>
            </a:extLst>
          </p:cNvPr>
          <p:cNvSpPr/>
          <p:nvPr/>
        </p:nvSpPr>
        <p:spPr>
          <a:xfrm>
            <a:off x="148183" y="168064"/>
            <a:ext cx="2049585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/>
              <a:t>회의할내용</a:t>
            </a:r>
            <a:endParaRPr lang="ko-KR" altLang="en-US" sz="2000" b="1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CCAAFC5-F268-B23B-BC5A-13945C3F5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320022"/>
              </p:ext>
            </p:extLst>
          </p:nvPr>
        </p:nvGraphicFramePr>
        <p:xfrm>
          <a:off x="148182" y="972780"/>
          <a:ext cx="9339213" cy="51330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88625">
                  <a:extLst>
                    <a:ext uri="{9D8B030D-6E8A-4147-A177-3AD203B41FA5}">
                      <a16:colId xmlns:a16="http://schemas.microsoft.com/office/drawing/2014/main" val="4178004252"/>
                    </a:ext>
                  </a:extLst>
                </a:gridCol>
                <a:gridCol w="2114368">
                  <a:extLst>
                    <a:ext uri="{9D8B030D-6E8A-4147-A177-3AD203B41FA5}">
                      <a16:colId xmlns:a16="http://schemas.microsoft.com/office/drawing/2014/main" val="3970938817"/>
                    </a:ext>
                  </a:extLst>
                </a:gridCol>
                <a:gridCol w="2068110">
                  <a:extLst>
                    <a:ext uri="{9D8B030D-6E8A-4147-A177-3AD203B41FA5}">
                      <a16:colId xmlns:a16="http://schemas.microsoft.com/office/drawing/2014/main" val="2637486499"/>
                    </a:ext>
                  </a:extLst>
                </a:gridCol>
                <a:gridCol w="2068110">
                  <a:extLst>
                    <a:ext uri="{9D8B030D-6E8A-4147-A177-3AD203B41FA5}">
                      <a16:colId xmlns:a16="http://schemas.microsoft.com/office/drawing/2014/main" val="1154425826"/>
                    </a:ext>
                  </a:extLst>
                </a:gridCol>
              </a:tblGrid>
              <a:tr h="4416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비목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금액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현사용액</a:t>
                      </a:r>
                      <a:endParaRPr lang="en-US" altLang="ko-KR" sz="20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차액</a:t>
                      </a:r>
                      <a:endParaRPr lang="en-US" altLang="ko-KR" sz="2000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628774"/>
                  </a:ext>
                </a:extLst>
              </a:tr>
              <a:tr h="883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활동비</a:t>
                      </a:r>
                      <a:r>
                        <a:rPr lang="en-US" altLang="ko-KR" sz="2000" b="1" dirty="0"/>
                        <a:t>(20%)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600,000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600,000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-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08718"/>
                  </a:ext>
                </a:extLst>
              </a:tr>
              <a:tr h="9385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간담회비</a:t>
                      </a:r>
                      <a:r>
                        <a:rPr lang="en-US" altLang="ko-KR" sz="2000" b="1" dirty="0"/>
                        <a:t>(</a:t>
                      </a:r>
                      <a:r>
                        <a:rPr lang="ko-KR" altLang="en-US" sz="2000" b="1" dirty="0" err="1"/>
                        <a:t>다과비</a:t>
                      </a:r>
                      <a:r>
                        <a:rPr lang="en-US" altLang="ko-KR" sz="2000" b="1" dirty="0"/>
                        <a:t>) 30%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900,000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703,740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196,260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302873"/>
                  </a:ext>
                </a:extLst>
              </a:tr>
              <a:tr h="883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홍보인쇄비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100,000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41,800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58,200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409754"/>
                  </a:ext>
                </a:extLst>
              </a:tr>
              <a:tr h="883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소모품구입비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1,400,000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1,330,970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69,030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321846"/>
                  </a:ext>
                </a:extLst>
              </a:tr>
              <a:tr h="11029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3,000,000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2,676,510</a:t>
                      </a:r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323,490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891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9601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2AEB1-B732-AE2E-4939-D9D6286C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4A5F61-0DED-5553-38DE-393F48BBA323}"/>
              </a:ext>
            </a:extLst>
          </p:cNvPr>
          <p:cNvSpPr/>
          <p:nvPr/>
        </p:nvSpPr>
        <p:spPr>
          <a:xfrm>
            <a:off x="196319" y="498306"/>
            <a:ext cx="3408168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접   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64BDC0-F83D-D81F-ADB4-C8A9D3D27EE3}"/>
              </a:ext>
            </a:extLst>
          </p:cNvPr>
          <p:cNvSpPr/>
          <p:nvPr/>
        </p:nvSpPr>
        <p:spPr>
          <a:xfrm>
            <a:off x="3697228" y="495379"/>
            <a:ext cx="1897831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심사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7E2B88-0DE9-460E-8B59-699156D89690}"/>
              </a:ext>
            </a:extLst>
          </p:cNvPr>
          <p:cNvSpPr/>
          <p:nvPr/>
        </p:nvSpPr>
        <p:spPr>
          <a:xfrm>
            <a:off x="10936202" y="485933"/>
            <a:ext cx="1124918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결과보고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5C5B24-FF92-6026-C594-108A128076D7}"/>
              </a:ext>
            </a:extLst>
          </p:cNvPr>
          <p:cNvSpPr/>
          <p:nvPr/>
        </p:nvSpPr>
        <p:spPr>
          <a:xfrm>
            <a:off x="9527188" y="495379"/>
            <a:ext cx="1316273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성과보고회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C1FC582-4757-6B69-FB00-6FD9E793D3EB}"/>
              </a:ext>
            </a:extLst>
          </p:cNvPr>
          <p:cNvSpPr/>
          <p:nvPr/>
        </p:nvSpPr>
        <p:spPr>
          <a:xfrm>
            <a:off x="823648" y="1888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ED5E3-89DF-733E-9B9B-BD89C19A8475}"/>
              </a:ext>
            </a:extLst>
          </p:cNvPr>
          <p:cNvSpPr txBox="1"/>
          <p:nvPr/>
        </p:nvSpPr>
        <p:spPr>
          <a:xfrm>
            <a:off x="337386" y="2285997"/>
            <a:ext cx="1152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사업설명회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48653B-D206-1921-F317-41B1048D5631}"/>
              </a:ext>
            </a:extLst>
          </p:cNvPr>
          <p:cNvSpPr txBox="1"/>
          <p:nvPr/>
        </p:nvSpPr>
        <p:spPr>
          <a:xfrm>
            <a:off x="622003" y="1195221"/>
            <a:ext cx="583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3.4</a:t>
            </a:r>
            <a:br>
              <a:rPr lang="en-US" altLang="ko-KR" sz="1400" b="1" dirty="0"/>
            </a:br>
            <a:r>
              <a:rPr lang="en-US" altLang="ko-KR" sz="1400" b="1" dirty="0"/>
              <a:t>~3.6</a:t>
            </a:r>
            <a:endParaRPr lang="ko-KR" altLang="en-US" sz="1400" b="1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023E537-6E54-C1D8-02F1-1C3E547A4498}"/>
              </a:ext>
            </a:extLst>
          </p:cNvPr>
          <p:cNvSpPr/>
          <p:nvPr/>
        </p:nvSpPr>
        <p:spPr>
          <a:xfrm>
            <a:off x="1908260" y="189357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2080A3-6DD2-E6AD-A839-F78231C7E2F3}"/>
              </a:ext>
            </a:extLst>
          </p:cNvPr>
          <p:cNvSpPr txBox="1"/>
          <p:nvPr/>
        </p:nvSpPr>
        <p:spPr>
          <a:xfrm>
            <a:off x="1519794" y="2285997"/>
            <a:ext cx="956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사전면담</a:t>
            </a:r>
            <a:br>
              <a:rPr lang="en-US" altLang="ko-KR" sz="1400" b="1" dirty="0"/>
            </a:br>
            <a:r>
              <a:rPr lang="en-US" altLang="ko-KR" sz="1400" b="1" dirty="0"/>
              <a:t>(11:00)</a:t>
            </a:r>
            <a:endParaRPr lang="ko-KR" alt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168D89-C78A-D38E-1C6C-C1D6C912E3BE}"/>
              </a:ext>
            </a:extLst>
          </p:cNvPr>
          <p:cNvSpPr txBox="1"/>
          <p:nvPr/>
        </p:nvSpPr>
        <p:spPr>
          <a:xfrm>
            <a:off x="1706615" y="1195221"/>
            <a:ext cx="583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3.11</a:t>
            </a:r>
            <a:endParaRPr lang="ko-KR" altLang="en-US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6E1B97-39C1-73CC-63B7-F838A19DF3A7}"/>
              </a:ext>
            </a:extLst>
          </p:cNvPr>
          <p:cNvSpPr txBox="1"/>
          <p:nvPr/>
        </p:nvSpPr>
        <p:spPr>
          <a:xfrm>
            <a:off x="2868797" y="1195221"/>
            <a:ext cx="58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3.14</a:t>
            </a:r>
            <a:endParaRPr lang="ko-KR" altLang="en-US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02547-310B-707F-3637-D2D37D113AF5}"/>
              </a:ext>
            </a:extLst>
          </p:cNvPr>
          <p:cNvSpPr txBox="1"/>
          <p:nvPr/>
        </p:nvSpPr>
        <p:spPr>
          <a:xfrm>
            <a:off x="2817742" y="2285997"/>
            <a:ext cx="68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접수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F0A6A3D-019E-3476-F840-3348CEEDA1D7}"/>
              </a:ext>
            </a:extLst>
          </p:cNvPr>
          <p:cNvSpPr/>
          <p:nvPr/>
        </p:nvSpPr>
        <p:spPr>
          <a:xfrm>
            <a:off x="3070442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7750F5F-4C97-233C-6397-40614237ED99}"/>
              </a:ext>
            </a:extLst>
          </p:cNvPr>
          <p:cNvSpPr/>
          <p:nvPr/>
        </p:nvSpPr>
        <p:spPr>
          <a:xfrm>
            <a:off x="580517" y="2993770"/>
            <a:ext cx="666263" cy="232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배지나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B767FE8-504B-5D39-A871-1F981129DD80}"/>
              </a:ext>
            </a:extLst>
          </p:cNvPr>
          <p:cNvSpPr/>
          <p:nvPr/>
        </p:nvSpPr>
        <p:spPr>
          <a:xfrm>
            <a:off x="580517" y="3301549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BD6183C-2A47-E37F-2570-854E3096E81F}"/>
              </a:ext>
            </a:extLst>
          </p:cNvPr>
          <p:cNvSpPr/>
          <p:nvPr/>
        </p:nvSpPr>
        <p:spPr>
          <a:xfrm>
            <a:off x="1665129" y="3301549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664D8FE-FEF7-1A17-0DFA-520337CA57C3}"/>
              </a:ext>
            </a:extLst>
          </p:cNvPr>
          <p:cNvSpPr/>
          <p:nvPr/>
        </p:nvSpPr>
        <p:spPr>
          <a:xfrm>
            <a:off x="1665129" y="2993770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F114A1-4746-2008-36CE-7658E172ACE7}"/>
              </a:ext>
            </a:extLst>
          </p:cNvPr>
          <p:cNvSpPr txBox="1"/>
          <p:nvPr/>
        </p:nvSpPr>
        <p:spPr>
          <a:xfrm>
            <a:off x="3749806" y="2285997"/>
            <a:ext cx="68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면접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B5560EB-4265-9B48-076D-A8A35B39D7D2}"/>
              </a:ext>
            </a:extLst>
          </p:cNvPr>
          <p:cNvSpPr/>
          <p:nvPr/>
        </p:nvSpPr>
        <p:spPr>
          <a:xfrm>
            <a:off x="3759375" y="2993770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92DB02D-ADD7-57A8-994A-F723D548CB19}"/>
              </a:ext>
            </a:extLst>
          </p:cNvPr>
          <p:cNvSpPr/>
          <p:nvPr/>
        </p:nvSpPr>
        <p:spPr>
          <a:xfrm>
            <a:off x="3759375" y="3301549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F107295-9247-7861-610B-218083D43AC2}"/>
              </a:ext>
            </a:extLst>
          </p:cNvPr>
          <p:cNvSpPr/>
          <p:nvPr/>
        </p:nvSpPr>
        <p:spPr>
          <a:xfrm>
            <a:off x="4002506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997326-B859-D917-53CE-B16D7383CC18}"/>
              </a:ext>
            </a:extLst>
          </p:cNvPr>
          <p:cNvSpPr txBox="1"/>
          <p:nvPr/>
        </p:nvSpPr>
        <p:spPr>
          <a:xfrm>
            <a:off x="3749806" y="1195221"/>
            <a:ext cx="68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3.17</a:t>
            </a:r>
            <a:br>
              <a:rPr lang="en-US" altLang="ko-KR" sz="1400" b="1" dirty="0"/>
            </a:br>
            <a:r>
              <a:rPr lang="en-US" altLang="ko-KR" sz="1400" b="1" dirty="0"/>
              <a:t>~4.25</a:t>
            </a:r>
            <a:endParaRPr lang="ko-KR" altLang="en-US" sz="1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A24C1-874C-DF05-7985-FE615E8347E7}"/>
              </a:ext>
            </a:extLst>
          </p:cNvPr>
          <p:cNvSpPr txBox="1"/>
          <p:nvPr/>
        </p:nvSpPr>
        <p:spPr>
          <a:xfrm>
            <a:off x="1447227" y="3706844"/>
            <a:ext cx="123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사업계획서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안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398DC5-B58E-6352-806A-1DEF01D6954E}"/>
              </a:ext>
            </a:extLst>
          </p:cNvPr>
          <p:cNvSpPr txBox="1"/>
          <p:nvPr/>
        </p:nvSpPr>
        <p:spPr>
          <a:xfrm>
            <a:off x="2466911" y="3748191"/>
            <a:ext cx="1387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사업계획서</a:t>
            </a:r>
            <a:br>
              <a:rPr lang="en-US" altLang="ko-KR" sz="1200" b="1" dirty="0"/>
            </a:br>
            <a:r>
              <a:rPr lang="ko-KR" altLang="en-US" sz="1200" b="1" dirty="0"/>
              <a:t>보탬</a:t>
            </a:r>
            <a:r>
              <a:rPr lang="en-US" altLang="ko-KR" sz="1200" b="1" dirty="0"/>
              <a:t>e</a:t>
            </a:r>
            <a:r>
              <a:rPr lang="ko-KR" altLang="en-US" sz="1200" b="1" dirty="0"/>
              <a:t>수료증</a:t>
            </a:r>
            <a:br>
              <a:rPr lang="en-US" altLang="ko-KR" sz="1200" b="1" dirty="0"/>
            </a:br>
            <a:r>
              <a:rPr lang="ko-KR" altLang="en-US" sz="1200" b="1" dirty="0"/>
              <a:t>공모사업신청서</a:t>
            </a:r>
            <a:br>
              <a:rPr lang="en-US" altLang="ko-KR" sz="1200" b="1" dirty="0"/>
            </a:br>
            <a:r>
              <a:rPr lang="ko-KR" altLang="en-US" sz="1200" b="1" dirty="0"/>
              <a:t>단체소개서</a:t>
            </a:r>
            <a:br>
              <a:rPr lang="en-US" altLang="ko-KR" sz="1200" b="1" dirty="0"/>
            </a:br>
            <a:r>
              <a:rPr lang="ko-KR" altLang="en-US" sz="1200" b="1" dirty="0"/>
              <a:t>주민참여명부</a:t>
            </a:r>
            <a:br>
              <a:rPr lang="en-US" altLang="ko-KR" sz="1200" b="1" dirty="0"/>
            </a:br>
            <a:r>
              <a:rPr lang="ko-KR" altLang="en-US" sz="1200" b="1" dirty="0"/>
              <a:t>동의서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274649E-2331-ABAF-947B-EF9C4A84F0F1}"/>
              </a:ext>
            </a:extLst>
          </p:cNvPr>
          <p:cNvSpPr/>
          <p:nvPr/>
        </p:nvSpPr>
        <p:spPr>
          <a:xfrm>
            <a:off x="2827311" y="2993770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DCE91D6-07F1-01A0-CF84-5EE2FD92845D}"/>
              </a:ext>
            </a:extLst>
          </p:cNvPr>
          <p:cNvSpPr/>
          <p:nvPr/>
        </p:nvSpPr>
        <p:spPr>
          <a:xfrm>
            <a:off x="5755821" y="485932"/>
            <a:ext cx="3658890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온쉼클래스</a:t>
            </a:r>
            <a:endParaRPr lang="ko-KR" altLang="en-US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E4FD9F-65AB-1166-0514-5F8DB79121A5}"/>
              </a:ext>
            </a:extLst>
          </p:cNvPr>
          <p:cNvSpPr txBox="1"/>
          <p:nvPr/>
        </p:nvSpPr>
        <p:spPr>
          <a:xfrm>
            <a:off x="4697061" y="1195221"/>
            <a:ext cx="685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4.25</a:t>
            </a:r>
            <a:br>
              <a:rPr lang="en-US" altLang="ko-KR" sz="1400" b="1" dirty="0"/>
            </a:br>
            <a:r>
              <a:rPr lang="en-US" altLang="ko-KR" sz="1400" b="1" dirty="0"/>
              <a:t>~5.16</a:t>
            </a:r>
            <a:endParaRPr lang="ko-KR" altLang="en-US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A8F130-3592-8251-F651-CC33CF6D2CF7}"/>
              </a:ext>
            </a:extLst>
          </p:cNvPr>
          <p:cNvSpPr txBox="1"/>
          <p:nvPr/>
        </p:nvSpPr>
        <p:spPr>
          <a:xfrm>
            <a:off x="6989596" y="1195221"/>
            <a:ext cx="146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6.15~11.30</a:t>
            </a:r>
            <a:endParaRPr lang="ko-KR" altLang="en-US" sz="1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9078FF-FCA0-ED0D-F91E-55F50F3011F1}"/>
              </a:ext>
            </a:extLst>
          </p:cNvPr>
          <p:cNvSpPr txBox="1"/>
          <p:nvPr/>
        </p:nvSpPr>
        <p:spPr>
          <a:xfrm>
            <a:off x="11155960" y="1195221"/>
            <a:ext cx="68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12.22</a:t>
            </a:r>
            <a:endParaRPr lang="ko-KR" altLang="en-US" sz="1400" b="1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AC37C1B-7D51-BA57-1D75-3CC9D6E074A0}"/>
              </a:ext>
            </a:extLst>
          </p:cNvPr>
          <p:cNvSpPr/>
          <p:nvPr/>
        </p:nvSpPr>
        <p:spPr>
          <a:xfrm>
            <a:off x="4706631" y="3005081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883002B-6698-AF7A-DEC8-CBE33A7CFA77}"/>
              </a:ext>
            </a:extLst>
          </p:cNvPr>
          <p:cNvSpPr/>
          <p:nvPr/>
        </p:nvSpPr>
        <p:spPr>
          <a:xfrm>
            <a:off x="4706631" y="3312860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93C293-2F40-5823-61C3-E2FDF738DD91}"/>
              </a:ext>
            </a:extLst>
          </p:cNvPr>
          <p:cNvSpPr txBox="1"/>
          <p:nvPr/>
        </p:nvSpPr>
        <p:spPr>
          <a:xfrm>
            <a:off x="4639229" y="3748191"/>
            <a:ext cx="801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협약서</a:t>
            </a:r>
            <a:br>
              <a:rPr lang="en-US" altLang="ko-KR" sz="1200" b="1" dirty="0"/>
            </a:br>
            <a:r>
              <a:rPr lang="ko-KR" altLang="en-US" sz="1200" b="1" dirty="0"/>
              <a:t>계좌개설</a:t>
            </a:r>
            <a:br>
              <a:rPr lang="en-US" altLang="ko-KR" sz="1200" b="1" dirty="0"/>
            </a:br>
            <a:r>
              <a:rPr lang="ko-KR" altLang="en-US" sz="1200" b="1" dirty="0"/>
              <a:t>체크카드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9CA4D5D-F4CE-5839-0B94-AFA39DD5E639}"/>
              </a:ext>
            </a:extLst>
          </p:cNvPr>
          <p:cNvSpPr/>
          <p:nvPr/>
        </p:nvSpPr>
        <p:spPr>
          <a:xfrm>
            <a:off x="6368207" y="2584760"/>
            <a:ext cx="685401" cy="232281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문은주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C1FDCF3-9AA4-8556-573F-FDF15C7EA541}"/>
              </a:ext>
            </a:extLst>
          </p:cNvPr>
          <p:cNvSpPr/>
          <p:nvPr/>
        </p:nvSpPr>
        <p:spPr>
          <a:xfrm>
            <a:off x="7104990" y="2584760"/>
            <a:ext cx="666263" cy="2322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박정숙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3222ED5-3F7F-CA7D-B59B-A2E174C0BC1B}"/>
              </a:ext>
            </a:extLst>
          </p:cNvPr>
          <p:cNvSpPr/>
          <p:nvPr/>
        </p:nvSpPr>
        <p:spPr>
          <a:xfrm>
            <a:off x="6989339" y="3918611"/>
            <a:ext cx="666263" cy="23228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유찬양</a:t>
            </a:r>
            <a:endParaRPr lang="ko-KR" altLang="en-US" sz="1050" b="1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723EA59-2D15-50FA-14C1-9E6F5731D68C}"/>
              </a:ext>
            </a:extLst>
          </p:cNvPr>
          <p:cNvSpPr/>
          <p:nvPr/>
        </p:nvSpPr>
        <p:spPr>
          <a:xfrm>
            <a:off x="8036671" y="3911781"/>
            <a:ext cx="666263" cy="232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배지나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2F11CFE-6B84-D718-E931-2675D06EE2CE}"/>
              </a:ext>
            </a:extLst>
          </p:cNvPr>
          <p:cNvSpPr/>
          <p:nvPr/>
        </p:nvSpPr>
        <p:spPr>
          <a:xfrm>
            <a:off x="10970042" y="6245317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AF6E3B8-D09A-D890-85FA-42E8ED1E22D7}"/>
              </a:ext>
            </a:extLst>
          </p:cNvPr>
          <p:cNvSpPr/>
          <p:nvPr/>
        </p:nvSpPr>
        <p:spPr>
          <a:xfrm>
            <a:off x="7315765" y="6209498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A747291-903B-9729-A7E0-A6DE947A803D}"/>
              </a:ext>
            </a:extLst>
          </p:cNvPr>
          <p:cNvSpPr/>
          <p:nvPr/>
        </p:nvSpPr>
        <p:spPr>
          <a:xfrm>
            <a:off x="7196278" y="5160960"/>
            <a:ext cx="666263" cy="232280"/>
          </a:xfrm>
          <a:prstGeom prst="roundRect">
            <a:avLst/>
          </a:prstGeom>
          <a:solidFill>
            <a:srgbClr val="A50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임한서</a:t>
            </a:r>
            <a:endParaRPr lang="ko-KR" altLang="en-US" sz="1050" b="1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D4F8821-7E6E-422E-2277-616019768CAE}"/>
              </a:ext>
            </a:extLst>
          </p:cNvPr>
          <p:cNvSpPr/>
          <p:nvPr/>
        </p:nvSpPr>
        <p:spPr>
          <a:xfrm>
            <a:off x="8018486" y="5160960"/>
            <a:ext cx="666263" cy="23228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/>
              <a:t>임에스더</a:t>
            </a:r>
            <a:endParaRPr lang="ko-KR" altLang="en-US" sz="900" b="1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4E31BDD-731D-727B-C318-236AC969341F}"/>
              </a:ext>
            </a:extLst>
          </p:cNvPr>
          <p:cNvSpPr/>
          <p:nvPr/>
        </p:nvSpPr>
        <p:spPr>
          <a:xfrm>
            <a:off x="4949762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5435495-4111-F9D6-2743-ABF78857A4D1}"/>
              </a:ext>
            </a:extLst>
          </p:cNvPr>
          <p:cNvSpPr/>
          <p:nvPr/>
        </p:nvSpPr>
        <p:spPr>
          <a:xfrm>
            <a:off x="6455971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912040E-0160-1718-AAD3-15A1E0A15F20}"/>
              </a:ext>
            </a:extLst>
          </p:cNvPr>
          <p:cNvSpPr/>
          <p:nvPr/>
        </p:nvSpPr>
        <p:spPr>
          <a:xfrm>
            <a:off x="7802028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D281C36D-105D-DE89-01D7-9857A7587CC0}"/>
              </a:ext>
            </a:extLst>
          </p:cNvPr>
          <p:cNvSpPr/>
          <p:nvPr/>
        </p:nvSpPr>
        <p:spPr>
          <a:xfrm>
            <a:off x="10095324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44F82B6-DE35-AC4C-009B-3F529226609E}"/>
              </a:ext>
            </a:extLst>
          </p:cNvPr>
          <p:cNvSpPr/>
          <p:nvPr/>
        </p:nvSpPr>
        <p:spPr>
          <a:xfrm>
            <a:off x="11461927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975764-A436-3764-EF1D-1B50FD3E49CA}"/>
              </a:ext>
            </a:extLst>
          </p:cNvPr>
          <p:cNvSpPr txBox="1"/>
          <p:nvPr/>
        </p:nvSpPr>
        <p:spPr>
          <a:xfrm>
            <a:off x="4638127" y="2272615"/>
            <a:ext cx="956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결과 발표 및 협약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434F0FB-121D-B1A3-1A2E-DAF6DA4DD22A}"/>
              </a:ext>
            </a:extLst>
          </p:cNvPr>
          <p:cNvSpPr/>
          <p:nvPr/>
        </p:nvSpPr>
        <p:spPr>
          <a:xfrm>
            <a:off x="8969661" y="188756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DD2F57-47E3-4409-AC78-1AFE9339CD6E}"/>
              </a:ext>
            </a:extLst>
          </p:cNvPr>
          <p:cNvSpPr txBox="1"/>
          <p:nvPr/>
        </p:nvSpPr>
        <p:spPr>
          <a:xfrm>
            <a:off x="7444770" y="2201242"/>
            <a:ext cx="956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/>
              <a:t>함께밥상</a:t>
            </a:r>
            <a:endParaRPr lang="ko-KR" altLang="en-US" sz="1400" b="1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0890A87-295F-6516-79A1-B2513155A9A8}"/>
              </a:ext>
            </a:extLst>
          </p:cNvPr>
          <p:cNvSpPr/>
          <p:nvPr/>
        </p:nvSpPr>
        <p:spPr>
          <a:xfrm>
            <a:off x="8580203" y="2584760"/>
            <a:ext cx="666263" cy="23228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박상미</a:t>
            </a:r>
            <a:endParaRPr lang="ko-KR" altLang="en-US" sz="1050" b="1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6D284F35-39C8-81CB-287B-2DD540B3909E}"/>
              </a:ext>
            </a:extLst>
          </p:cNvPr>
          <p:cNvSpPr/>
          <p:nvPr/>
        </p:nvSpPr>
        <p:spPr>
          <a:xfrm>
            <a:off x="7823660" y="2584760"/>
            <a:ext cx="666263" cy="232280"/>
          </a:xfrm>
          <a:prstGeom prst="round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송민섭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962337-C34A-E3C0-A584-258B358AC746}"/>
              </a:ext>
            </a:extLst>
          </p:cNvPr>
          <p:cNvSpPr txBox="1"/>
          <p:nvPr/>
        </p:nvSpPr>
        <p:spPr>
          <a:xfrm>
            <a:off x="7113489" y="3517155"/>
            <a:ext cx="1466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/>
              <a:t>아이들눈건강</a:t>
            </a:r>
            <a:endParaRPr lang="ko-KR" altLang="en-US" sz="1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008287-8AB9-E489-526D-E2C18170E964}"/>
              </a:ext>
            </a:extLst>
          </p:cNvPr>
          <p:cNvSpPr txBox="1"/>
          <p:nvPr/>
        </p:nvSpPr>
        <p:spPr>
          <a:xfrm>
            <a:off x="7190212" y="4773136"/>
            <a:ext cx="1466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/>
              <a:t>포카치아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피자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F8AC4B-C441-F8B1-C1CA-48F3BD29ECB4}"/>
              </a:ext>
            </a:extLst>
          </p:cNvPr>
          <p:cNvSpPr txBox="1"/>
          <p:nvPr/>
        </p:nvSpPr>
        <p:spPr>
          <a:xfrm>
            <a:off x="9917058" y="1195221"/>
            <a:ext cx="58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11</a:t>
            </a:r>
            <a:r>
              <a:rPr lang="ko-KR" altLang="en-US" sz="1400" b="1" dirty="0"/>
              <a:t>월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A7DE66B5-2494-EA25-8041-ED44E952EA5E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1003648" y="1978156"/>
            <a:ext cx="904612" cy="542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B996241C-F458-0484-8EF1-676B6016962C}"/>
              </a:ext>
            </a:extLst>
          </p:cNvPr>
          <p:cNvCxnSpPr>
            <a:cxnSpLocks/>
            <a:stCxn id="15" idx="6"/>
            <a:endCxn id="5" idx="2"/>
          </p:cNvCxnSpPr>
          <p:nvPr/>
        </p:nvCxnSpPr>
        <p:spPr>
          <a:xfrm>
            <a:off x="2088260" y="1983579"/>
            <a:ext cx="982182" cy="3482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856874B-CDF3-72A5-E942-FFD14749E6DF}"/>
              </a:ext>
            </a:extLst>
          </p:cNvPr>
          <p:cNvCxnSpPr>
            <a:cxnSpLocks/>
            <a:stCxn id="5" idx="6"/>
            <a:endCxn id="26" idx="2"/>
          </p:cNvCxnSpPr>
          <p:nvPr/>
        </p:nvCxnSpPr>
        <p:spPr>
          <a:xfrm>
            <a:off x="3250442" y="1987061"/>
            <a:ext cx="752064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2636AAD3-92F1-A97E-08A9-922437CCFCAC}"/>
              </a:ext>
            </a:extLst>
          </p:cNvPr>
          <p:cNvCxnSpPr>
            <a:cxnSpLocks/>
            <a:stCxn id="26" idx="6"/>
            <a:endCxn id="51" idx="2"/>
          </p:cNvCxnSpPr>
          <p:nvPr/>
        </p:nvCxnSpPr>
        <p:spPr>
          <a:xfrm flipV="1">
            <a:off x="4182506" y="1987061"/>
            <a:ext cx="767256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5C9B30CF-3721-D2E0-90A4-EED6791430EB}"/>
              </a:ext>
            </a:extLst>
          </p:cNvPr>
          <p:cNvCxnSpPr>
            <a:cxnSpLocks/>
            <a:stCxn id="52" idx="6"/>
            <a:endCxn id="53" idx="2"/>
          </p:cNvCxnSpPr>
          <p:nvPr/>
        </p:nvCxnSpPr>
        <p:spPr>
          <a:xfrm flipV="1">
            <a:off x="6635971" y="1987061"/>
            <a:ext cx="1166057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AAC0E7C-2CA3-AE20-8F97-F07460A364D3}"/>
              </a:ext>
            </a:extLst>
          </p:cNvPr>
          <p:cNvCxnSpPr>
            <a:cxnSpLocks/>
            <a:stCxn id="53" idx="6"/>
            <a:endCxn id="60" idx="2"/>
          </p:cNvCxnSpPr>
          <p:nvPr/>
        </p:nvCxnSpPr>
        <p:spPr>
          <a:xfrm flipV="1">
            <a:off x="7982028" y="1977560"/>
            <a:ext cx="987633" cy="95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>
            <a:extLst>
              <a:ext uri="{FF2B5EF4-FFF2-40B4-BE49-F238E27FC236}">
                <a16:creationId xmlns:a16="http://schemas.microsoft.com/office/drawing/2014/main" id="{F075B2BA-CB01-30A6-3573-95F9DF2FBCC5}"/>
              </a:ext>
            </a:extLst>
          </p:cNvPr>
          <p:cNvSpPr/>
          <p:nvPr/>
        </p:nvSpPr>
        <p:spPr>
          <a:xfrm>
            <a:off x="6455971" y="317304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136CF714-17F5-E0E8-A0FE-5D41C9229838}"/>
              </a:ext>
            </a:extLst>
          </p:cNvPr>
          <p:cNvSpPr/>
          <p:nvPr/>
        </p:nvSpPr>
        <p:spPr>
          <a:xfrm>
            <a:off x="7802028" y="316410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6609D69-C51C-2119-1A3D-BE025A184B79}"/>
              </a:ext>
            </a:extLst>
          </p:cNvPr>
          <p:cNvSpPr/>
          <p:nvPr/>
        </p:nvSpPr>
        <p:spPr>
          <a:xfrm>
            <a:off x="8969661" y="315460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F63B5FF5-C79F-ECFD-C576-14F5A3758440}"/>
              </a:ext>
            </a:extLst>
          </p:cNvPr>
          <p:cNvCxnSpPr>
            <a:cxnSpLocks/>
            <a:stCxn id="91" idx="6"/>
            <a:endCxn id="92" idx="2"/>
          </p:cNvCxnSpPr>
          <p:nvPr/>
        </p:nvCxnSpPr>
        <p:spPr>
          <a:xfrm flipV="1">
            <a:off x="6635971" y="3254109"/>
            <a:ext cx="1166057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BAFEE20-E693-ADC4-0D12-C1484E1402DE}"/>
              </a:ext>
            </a:extLst>
          </p:cNvPr>
          <p:cNvCxnSpPr>
            <a:cxnSpLocks/>
            <a:stCxn id="92" idx="6"/>
            <a:endCxn id="93" idx="2"/>
          </p:cNvCxnSpPr>
          <p:nvPr/>
        </p:nvCxnSpPr>
        <p:spPr>
          <a:xfrm flipV="1">
            <a:off x="7982028" y="3244608"/>
            <a:ext cx="987633" cy="95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11521181-4E55-17FE-9345-9C913B59A53B}"/>
              </a:ext>
            </a:extLst>
          </p:cNvPr>
          <p:cNvSpPr/>
          <p:nvPr/>
        </p:nvSpPr>
        <p:spPr>
          <a:xfrm>
            <a:off x="6455971" y="455583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73175E8C-9694-4C22-FE8D-9F32716FFA7A}"/>
              </a:ext>
            </a:extLst>
          </p:cNvPr>
          <p:cNvSpPr/>
          <p:nvPr/>
        </p:nvSpPr>
        <p:spPr>
          <a:xfrm>
            <a:off x="7802028" y="454689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69A727D4-4256-8124-12E8-B16DE3DE0059}"/>
              </a:ext>
            </a:extLst>
          </p:cNvPr>
          <p:cNvSpPr/>
          <p:nvPr/>
        </p:nvSpPr>
        <p:spPr>
          <a:xfrm>
            <a:off x="8969661" y="453739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F7147B9-5032-7C4C-E6C2-73CF2F3507B3}"/>
              </a:ext>
            </a:extLst>
          </p:cNvPr>
          <p:cNvCxnSpPr>
            <a:cxnSpLocks/>
            <a:stCxn id="96" idx="6"/>
            <a:endCxn id="97" idx="2"/>
          </p:cNvCxnSpPr>
          <p:nvPr/>
        </p:nvCxnSpPr>
        <p:spPr>
          <a:xfrm flipV="1">
            <a:off x="6635971" y="4636892"/>
            <a:ext cx="1166057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BC99E9A-CB15-A68F-C35E-144F8464D05E}"/>
              </a:ext>
            </a:extLst>
          </p:cNvPr>
          <p:cNvCxnSpPr>
            <a:cxnSpLocks/>
            <a:stCxn id="97" idx="6"/>
            <a:endCxn id="98" idx="2"/>
          </p:cNvCxnSpPr>
          <p:nvPr/>
        </p:nvCxnSpPr>
        <p:spPr>
          <a:xfrm flipV="1">
            <a:off x="7982028" y="4627391"/>
            <a:ext cx="987633" cy="95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4C2C866B-5EFF-4A74-7F8B-9BC4573A9A40}"/>
              </a:ext>
            </a:extLst>
          </p:cNvPr>
          <p:cNvCxnSpPr>
            <a:cxnSpLocks/>
            <a:stCxn id="51" idx="6"/>
            <a:endCxn id="52" idx="2"/>
          </p:cNvCxnSpPr>
          <p:nvPr/>
        </p:nvCxnSpPr>
        <p:spPr>
          <a:xfrm>
            <a:off x="5129762" y="1987061"/>
            <a:ext cx="1326209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F718D25A-1F69-6CF0-E3D5-6CCB1C8C3A98}"/>
              </a:ext>
            </a:extLst>
          </p:cNvPr>
          <p:cNvCxnSpPr>
            <a:stCxn id="51" idx="6"/>
            <a:endCxn id="91" idx="2"/>
          </p:cNvCxnSpPr>
          <p:nvPr/>
        </p:nvCxnSpPr>
        <p:spPr>
          <a:xfrm>
            <a:off x="5129762" y="1987061"/>
            <a:ext cx="1326209" cy="1275986"/>
          </a:xfrm>
          <a:prstGeom prst="bentConnector3">
            <a:avLst>
              <a:gd name="adj1" fmla="val 56464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C34A22AA-9CC5-5921-73FD-6AD847A5AE25}"/>
              </a:ext>
            </a:extLst>
          </p:cNvPr>
          <p:cNvCxnSpPr>
            <a:cxnSpLocks/>
            <a:stCxn id="51" idx="6"/>
            <a:endCxn id="96" idx="2"/>
          </p:cNvCxnSpPr>
          <p:nvPr/>
        </p:nvCxnSpPr>
        <p:spPr>
          <a:xfrm>
            <a:off x="5129762" y="1987061"/>
            <a:ext cx="1326209" cy="2658769"/>
          </a:xfrm>
          <a:prstGeom prst="bentConnector3">
            <a:avLst>
              <a:gd name="adj1" fmla="val 56464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89CF7E9C-ADB2-013A-89CE-94E67FBF72D5}"/>
              </a:ext>
            </a:extLst>
          </p:cNvPr>
          <p:cNvCxnSpPr>
            <a:cxnSpLocks/>
            <a:stCxn id="54" idx="2"/>
            <a:endCxn id="98" idx="6"/>
          </p:cNvCxnSpPr>
          <p:nvPr/>
        </p:nvCxnSpPr>
        <p:spPr>
          <a:xfrm rot="10800000" flipV="1">
            <a:off x="9149662" y="1995999"/>
            <a:ext cx="945663" cy="26313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9B141066-FCDB-A999-AB1A-9D2485B2A589}"/>
              </a:ext>
            </a:extLst>
          </p:cNvPr>
          <p:cNvCxnSpPr>
            <a:cxnSpLocks/>
            <a:stCxn id="54" idx="2"/>
            <a:endCxn id="93" idx="6"/>
          </p:cNvCxnSpPr>
          <p:nvPr/>
        </p:nvCxnSpPr>
        <p:spPr>
          <a:xfrm rot="10800000" flipV="1">
            <a:off x="9149662" y="1995998"/>
            <a:ext cx="945663" cy="124860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606A699A-5E97-63E2-671C-9F19E720EDE6}"/>
              </a:ext>
            </a:extLst>
          </p:cNvPr>
          <p:cNvCxnSpPr>
            <a:cxnSpLocks/>
            <a:stCxn id="60" idx="6"/>
            <a:endCxn id="54" idx="2"/>
          </p:cNvCxnSpPr>
          <p:nvPr/>
        </p:nvCxnSpPr>
        <p:spPr>
          <a:xfrm>
            <a:off x="9149661" y="1977560"/>
            <a:ext cx="945663" cy="1843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01DA2C6-F7A1-3CD1-A2B5-796684A13C47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0275324" y="1995999"/>
            <a:ext cx="1186603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CEA25DB6-597D-2C2D-05B3-BC48715ECA9D}"/>
              </a:ext>
            </a:extLst>
          </p:cNvPr>
          <p:cNvSpPr txBox="1"/>
          <p:nvPr/>
        </p:nvSpPr>
        <p:spPr>
          <a:xfrm>
            <a:off x="7164045" y="5847347"/>
            <a:ext cx="1802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회계 및 보고서 작성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1352070-731F-7C81-4DA1-DE754DF9D824}"/>
              </a:ext>
            </a:extLst>
          </p:cNvPr>
          <p:cNvSpPr txBox="1"/>
          <p:nvPr/>
        </p:nvSpPr>
        <p:spPr>
          <a:xfrm>
            <a:off x="10898785" y="5846784"/>
            <a:ext cx="760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결재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032C058-DB7E-91B7-D8F3-191A7FE90045}"/>
              </a:ext>
            </a:extLst>
          </p:cNvPr>
          <p:cNvSpPr txBox="1"/>
          <p:nvPr/>
        </p:nvSpPr>
        <p:spPr>
          <a:xfrm>
            <a:off x="5794103" y="5848613"/>
            <a:ext cx="1326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사업운영총괄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BCF89C60-D6CD-E122-6C6C-BF7768922439}"/>
              </a:ext>
            </a:extLst>
          </p:cNvPr>
          <p:cNvSpPr/>
          <p:nvPr/>
        </p:nvSpPr>
        <p:spPr>
          <a:xfrm>
            <a:off x="5752601" y="6245317"/>
            <a:ext cx="666263" cy="232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배지나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28B64B2-BEFF-32A1-988A-F51F3F9E1AB4}"/>
              </a:ext>
            </a:extLst>
          </p:cNvPr>
          <p:cNvSpPr txBox="1"/>
          <p:nvPr/>
        </p:nvSpPr>
        <p:spPr>
          <a:xfrm>
            <a:off x="9684926" y="2201242"/>
            <a:ext cx="109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다같이참여</a:t>
            </a:r>
            <a:endParaRPr lang="ko-KR" altLang="en-US" sz="14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B7EF122-67D0-5AE8-3EF8-75D628B718C2}"/>
              </a:ext>
            </a:extLst>
          </p:cNvPr>
          <p:cNvSpPr txBox="1"/>
          <p:nvPr/>
        </p:nvSpPr>
        <p:spPr>
          <a:xfrm>
            <a:off x="6502004" y="2828679"/>
            <a:ext cx="463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/>
              <a:t>강사</a:t>
            </a:r>
            <a:endParaRPr lang="ko-KR" altLang="en-US" sz="900" b="1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13E1BFA-55B0-8B3D-31B7-B37B030920DA}"/>
              </a:ext>
            </a:extLst>
          </p:cNvPr>
          <p:cNvSpPr txBox="1"/>
          <p:nvPr/>
        </p:nvSpPr>
        <p:spPr>
          <a:xfrm>
            <a:off x="7160095" y="2828388"/>
            <a:ext cx="21738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도우미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장소대관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재료구입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5EC2041-A005-5D5E-8A3A-B1994ADB4448}"/>
              </a:ext>
            </a:extLst>
          </p:cNvPr>
          <p:cNvSpPr txBox="1"/>
          <p:nvPr/>
        </p:nvSpPr>
        <p:spPr>
          <a:xfrm>
            <a:off x="9047659" y="5845085"/>
            <a:ext cx="1452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홍보인쇄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사진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64D747D-2F61-AB55-0B5A-AE03D68F8503}"/>
              </a:ext>
            </a:extLst>
          </p:cNvPr>
          <p:cNvSpPr txBox="1"/>
          <p:nvPr/>
        </p:nvSpPr>
        <p:spPr>
          <a:xfrm>
            <a:off x="7089071" y="4161929"/>
            <a:ext cx="463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/>
              <a:t>강사</a:t>
            </a:r>
            <a:endParaRPr lang="ko-KR" altLang="en-US" sz="9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99202E8-E434-81F8-0C39-C876294AF61C}"/>
              </a:ext>
            </a:extLst>
          </p:cNvPr>
          <p:cNvSpPr txBox="1"/>
          <p:nvPr/>
        </p:nvSpPr>
        <p:spPr>
          <a:xfrm>
            <a:off x="7720550" y="4131811"/>
            <a:ext cx="16941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도우미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장소대관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재료구입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2319991-2398-701D-D064-CE391FF68EAE}"/>
              </a:ext>
            </a:extLst>
          </p:cNvPr>
          <p:cNvSpPr txBox="1"/>
          <p:nvPr/>
        </p:nvSpPr>
        <p:spPr>
          <a:xfrm>
            <a:off x="7331530" y="5393240"/>
            <a:ext cx="463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/>
              <a:t>강사</a:t>
            </a:r>
            <a:endParaRPr lang="ko-KR" altLang="en-US" sz="9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40B2A38-6DCC-B820-C2AA-7D4EBD8A783B}"/>
              </a:ext>
            </a:extLst>
          </p:cNvPr>
          <p:cNvSpPr txBox="1"/>
          <p:nvPr/>
        </p:nvSpPr>
        <p:spPr>
          <a:xfrm>
            <a:off x="7878286" y="5386389"/>
            <a:ext cx="1648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도우미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장소대관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재료구입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55E69BD4-EDA2-92A6-E4DC-27C51112985D}"/>
              </a:ext>
            </a:extLst>
          </p:cNvPr>
          <p:cNvSpPr/>
          <p:nvPr/>
        </p:nvSpPr>
        <p:spPr>
          <a:xfrm>
            <a:off x="9490833" y="6245317"/>
            <a:ext cx="666263" cy="23228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정군옥</a:t>
            </a:r>
            <a:endParaRPr lang="ko-KR" altLang="en-US" sz="1050" b="1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F224A5F-62F4-AD08-D4CC-A09844419763}"/>
              </a:ext>
            </a:extLst>
          </p:cNvPr>
          <p:cNvSpPr txBox="1"/>
          <p:nvPr/>
        </p:nvSpPr>
        <p:spPr>
          <a:xfrm>
            <a:off x="5751623" y="6529049"/>
            <a:ext cx="14873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홍보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중간보고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성과보고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CB96715E-3401-F4C8-A2D7-CD0E6BC4A0B2}"/>
              </a:ext>
            </a:extLst>
          </p:cNvPr>
          <p:cNvSpPr/>
          <p:nvPr/>
        </p:nvSpPr>
        <p:spPr>
          <a:xfrm>
            <a:off x="6466276" y="6245317"/>
            <a:ext cx="666263" cy="232280"/>
          </a:xfrm>
          <a:prstGeom prst="round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임정현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D298A732-5AE0-D73D-8285-EC36925E01DA}"/>
              </a:ext>
            </a:extLst>
          </p:cNvPr>
          <p:cNvSpPr/>
          <p:nvPr/>
        </p:nvSpPr>
        <p:spPr>
          <a:xfrm>
            <a:off x="11150219" y="3005081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79781D69-23E2-28D9-68A1-3B1EAB61FA14}"/>
              </a:ext>
            </a:extLst>
          </p:cNvPr>
          <p:cNvSpPr/>
          <p:nvPr/>
        </p:nvSpPr>
        <p:spPr>
          <a:xfrm>
            <a:off x="11150219" y="3312860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EB7E1FF-074C-0912-DC61-5940DAFFB6C9}"/>
              </a:ext>
            </a:extLst>
          </p:cNvPr>
          <p:cNvSpPr txBox="1"/>
          <p:nvPr/>
        </p:nvSpPr>
        <p:spPr>
          <a:xfrm>
            <a:off x="11073201" y="3711585"/>
            <a:ext cx="801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결과보고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금액환수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B639A17-8EF2-95EF-356F-B6ABC9AD1E79}"/>
              </a:ext>
            </a:extLst>
          </p:cNvPr>
          <p:cNvSpPr/>
          <p:nvPr/>
        </p:nvSpPr>
        <p:spPr>
          <a:xfrm>
            <a:off x="8091495" y="6209498"/>
            <a:ext cx="666263" cy="23228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/>
              <a:t>임에스더</a:t>
            </a:r>
            <a:endParaRPr lang="ko-KR" altLang="en-US" sz="9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189248-36C6-FE51-721A-3C7DB6EE933D}"/>
              </a:ext>
            </a:extLst>
          </p:cNvPr>
          <p:cNvSpPr/>
          <p:nvPr/>
        </p:nvSpPr>
        <p:spPr>
          <a:xfrm>
            <a:off x="5687800" y="274320"/>
            <a:ext cx="5248402" cy="5388459"/>
          </a:xfrm>
          <a:prstGeom prst="roundRect">
            <a:avLst>
              <a:gd name="adj" fmla="val 5320"/>
            </a:avLst>
          </a:prstGeom>
          <a:noFill/>
          <a:ln w="444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022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8D252-72DA-1DE3-6E36-5FA6879F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3D58BB09-B580-4B2E-BD99-681636F50399}"/>
              </a:ext>
            </a:extLst>
          </p:cNvPr>
          <p:cNvSpPr/>
          <p:nvPr/>
        </p:nvSpPr>
        <p:spPr>
          <a:xfrm>
            <a:off x="215757" y="495378"/>
            <a:ext cx="11609797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온쉼클래스</a:t>
            </a:r>
            <a:endParaRPr lang="ko-KR" alt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C5E08-C6BD-65B2-1B8B-E9F69B9B5238}"/>
              </a:ext>
            </a:extLst>
          </p:cNvPr>
          <p:cNvSpPr txBox="1"/>
          <p:nvPr/>
        </p:nvSpPr>
        <p:spPr>
          <a:xfrm>
            <a:off x="5212167" y="1174673"/>
            <a:ext cx="1809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6.15~11.30</a:t>
            </a:r>
            <a:endParaRPr lang="ko-KR" altLang="en-US" sz="2000" b="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B579AAA-E898-8F66-F588-900441BADA94}"/>
              </a:ext>
            </a:extLst>
          </p:cNvPr>
          <p:cNvSpPr/>
          <p:nvPr/>
        </p:nvSpPr>
        <p:spPr>
          <a:xfrm>
            <a:off x="1049676" y="1888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1FD98E6-BB14-6B4D-F519-25886C20C571}"/>
              </a:ext>
            </a:extLst>
          </p:cNvPr>
          <p:cNvSpPr/>
          <p:nvPr/>
        </p:nvSpPr>
        <p:spPr>
          <a:xfrm>
            <a:off x="3049894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4BB7FA8-4427-6AC2-2632-8111A7E64402}"/>
              </a:ext>
            </a:extLst>
          </p:cNvPr>
          <p:cNvSpPr/>
          <p:nvPr/>
        </p:nvSpPr>
        <p:spPr>
          <a:xfrm>
            <a:off x="5422372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B6C3506-15E3-3984-9678-DADC760281C3}"/>
              </a:ext>
            </a:extLst>
          </p:cNvPr>
          <p:cNvSpPr/>
          <p:nvPr/>
        </p:nvSpPr>
        <p:spPr>
          <a:xfrm>
            <a:off x="7699288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8F0114CF-6380-231D-B970-10A14B557A2C}"/>
              </a:ext>
            </a:extLst>
          </p:cNvPr>
          <p:cNvSpPr/>
          <p:nvPr/>
        </p:nvSpPr>
        <p:spPr>
          <a:xfrm>
            <a:off x="10422924" y="191911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606E72E-B51C-A763-021F-86391C1DFFBA}"/>
              </a:ext>
            </a:extLst>
          </p:cNvPr>
          <p:cNvCxnSpPr>
            <a:cxnSpLocks/>
            <a:stCxn id="8" idx="6"/>
            <a:endCxn id="22" idx="2"/>
          </p:cNvCxnSpPr>
          <p:nvPr/>
        </p:nvCxnSpPr>
        <p:spPr>
          <a:xfrm>
            <a:off x="1229676" y="1978156"/>
            <a:ext cx="1820218" cy="890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573F640-89EC-4360-E403-60D50FF2A0DD}"/>
              </a:ext>
            </a:extLst>
          </p:cNvPr>
          <p:cNvCxnSpPr>
            <a:cxnSpLocks/>
            <a:stCxn id="22" idx="6"/>
            <a:endCxn id="36" idx="2"/>
          </p:cNvCxnSpPr>
          <p:nvPr/>
        </p:nvCxnSpPr>
        <p:spPr>
          <a:xfrm>
            <a:off x="3229894" y="1987061"/>
            <a:ext cx="2192478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AF34F54-88E6-76AB-25CF-66D7FE83B89B}"/>
              </a:ext>
            </a:extLst>
          </p:cNvPr>
          <p:cNvCxnSpPr>
            <a:cxnSpLocks/>
            <a:stCxn id="36" idx="6"/>
            <a:endCxn id="40" idx="2"/>
          </p:cNvCxnSpPr>
          <p:nvPr/>
        </p:nvCxnSpPr>
        <p:spPr>
          <a:xfrm>
            <a:off x="5602372" y="1987061"/>
            <a:ext cx="209691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0305C616-5B67-7383-5E17-4AF9B6A261B7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7879288" y="1987061"/>
            <a:ext cx="2569747" cy="1843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E57DE19-D52C-BAAB-E00D-B03969CC0940}"/>
              </a:ext>
            </a:extLst>
          </p:cNvPr>
          <p:cNvSpPr txBox="1"/>
          <p:nvPr/>
        </p:nvSpPr>
        <p:spPr>
          <a:xfrm>
            <a:off x="435182" y="2334260"/>
            <a:ext cx="1473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일정 조율 및 장소 예약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F74F96-8394-8CF5-2A88-8FD3C6B54A4A}"/>
              </a:ext>
            </a:extLst>
          </p:cNvPr>
          <p:cNvSpPr txBox="1"/>
          <p:nvPr/>
        </p:nvSpPr>
        <p:spPr>
          <a:xfrm>
            <a:off x="356258" y="3079984"/>
            <a:ext cx="20717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 err="1"/>
              <a:t>온쉼브런치와</a:t>
            </a:r>
            <a:endParaRPr lang="en-US" altLang="ko-KR" sz="1400" b="1" dirty="0"/>
          </a:p>
          <a:p>
            <a:r>
              <a:rPr lang="en-US" altLang="ko-KR" sz="1400" b="1" dirty="0"/>
              <a:t>  </a:t>
            </a:r>
            <a:r>
              <a:rPr lang="ko-KR" altLang="en-US" sz="1400" b="1" dirty="0" err="1"/>
              <a:t>청양먹거리직매장</a:t>
            </a:r>
            <a:endParaRPr lang="en-US" altLang="ko-KR" sz="1400" b="1" dirty="0"/>
          </a:p>
          <a:p>
            <a:r>
              <a:rPr lang="en-US" altLang="ko-KR" sz="1400" b="1" dirty="0"/>
              <a:t>  </a:t>
            </a:r>
            <a:r>
              <a:rPr lang="ko-KR" altLang="en-US" sz="1400" b="1" dirty="0"/>
              <a:t>일정 공유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 err="1"/>
              <a:t>강의장</a:t>
            </a:r>
            <a:r>
              <a:rPr lang="ko-KR" altLang="en-US" sz="1400" b="1" dirty="0"/>
              <a:t> 및 주방</a:t>
            </a:r>
            <a:endParaRPr lang="en-US" altLang="ko-KR" sz="1400" b="1" dirty="0"/>
          </a:p>
          <a:p>
            <a:r>
              <a:rPr lang="en-US" altLang="ko-KR" sz="1400" b="1" dirty="0"/>
              <a:t>  </a:t>
            </a:r>
            <a:r>
              <a:rPr lang="ko-KR" altLang="en-US" sz="1400" b="1" dirty="0"/>
              <a:t>사전 예약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4BB3A5-1808-54A4-1053-9B21C09FC239}"/>
              </a:ext>
            </a:extLst>
          </p:cNvPr>
          <p:cNvSpPr txBox="1"/>
          <p:nvPr/>
        </p:nvSpPr>
        <p:spPr>
          <a:xfrm>
            <a:off x="2673236" y="2408871"/>
            <a:ext cx="956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홍보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FC5F3AF-1CEE-9E71-AEB0-07C9EC28B2C5}"/>
              </a:ext>
            </a:extLst>
          </p:cNvPr>
          <p:cNvSpPr txBox="1"/>
          <p:nvPr/>
        </p:nvSpPr>
        <p:spPr>
          <a:xfrm>
            <a:off x="2399053" y="3079984"/>
            <a:ext cx="21670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대상</a:t>
            </a:r>
            <a:endParaRPr lang="en-US" altLang="ko-KR" sz="1400" b="1" dirty="0"/>
          </a:p>
          <a:p>
            <a:r>
              <a:rPr lang="en-US" altLang="ko-KR" sz="1400" dirty="0"/>
              <a:t>- </a:t>
            </a:r>
            <a:r>
              <a:rPr lang="ko-KR" altLang="en-US" sz="1400" dirty="0" err="1"/>
              <a:t>맘카페</a:t>
            </a:r>
            <a:r>
              <a:rPr lang="en-US" altLang="ko-KR" sz="1400" dirty="0"/>
              <a:t>(</a:t>
            </a:r>
            <a:r>
              <a:rPr lang="ko-KR" altLang="en-US" sz="1400" dirty="0"/>
              <a:t>김정미 자매님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 err="1"/>
              <a:t>새누리</a:t>
            </a:r>
            <a:r>
              <a:rPr lang="en-US" altLang="ko-KR" sz="1400" dirty="0"/>
              <a:t>3</a:t>
            </a:r>
            <a:r>
              <a:rPr lang="ko-KR" altLang="en-US" sz="1400" dirty="0"/>
              <a:t>교회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마을공동체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유성구 공동체 밴드 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b="1" dirty="0"/>
          </a:p>
          <a:p>
            <a:r>
              <a:rPr lang="ko-KR" altLang="en-US" sz="1400" b="1" dirty="0"/>
              <a:t>홍보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김성환</a:t>
            </a:r>
            <a:endParaRPr lang="en-US" altLang="ko-KR" sz="1400" b="1" dirty="0"/>
          </a:p>
          <a:p>
            <a:r>
              <a:rPr lang="ko-KR" altLang="en-US" sz="1400" b="1" dirty="0"/>
              <a:t>배너제작</a:t>
            </a:r>
            <a:r>
              <a:rPr lang="en-US" altLang="ko-KR" sz="1400" b="1" dirty="0"/>
              <a:t>: </a:t>
            </a:r>
            <a:r>
              <a:rPr lang="ko-KR" altLang="en-US" sz="1400" b="1" dirty="0" err="1"/>
              <a:t>정군옥</a:t>
            </a:r>
            <a:r>
              <a:rPr lang="ko-KR" altLang="en-US" sz="1400" b="1" dirty="0"/>
              <a:t> 형제님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DAEC7E-44BA-9761-7D18-B824DFFFDCA1}"/>
              </a:ext>
            </a:extLst>
          </p:cNvPr>
          <p:cNvSpPr txBox="1"/>
          <p:nvPr/>
        </p:nvSpPr>
        <p:spPr>
          <a:xfrm>
            <a:off x="5028686" y="2408871"/>
            <a:ext cx="106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강의 준비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850C8C-5F67-D1B3-9977-9B2EDF446A1D}"/>
              </a:ext>
            </a:extLst>
          </p:cNvPr>
          <p:cNvSpPr txBox="1"/>
          <p:nvPr/>
        </p:nvSpPr>
        <p:spPr>
          <a:xfrm>
            <a:off x="4949762" y="3079984"/>
            <a:ext cx="20717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재료 구입</a:t>
            </a:r>
            <a:endParaRPr lang="en-US" altLang="ko-KR" sz="1400" b="1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공동체 체크카드 사용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필수증빙사진</a:t>
            </a:r>
            <a:r>
              <a:rPr lang="ko-KR" altLang="en-US" sz="1400" dirty="0"/>
              <a:t> 및 결제</a:t>
            </a:r>
            <a:br>
              <a:rPr lang="en-US" altLang="ko-KR" sz="1400" dirty="0"/>
            </a:br>
            <a:r>
              <a:rPr lang="en-US" altLang="ko-KR" sz="1400" dirty="0"/>
              <a:t>  </a:t>
            </a:r>
            <a:r>
              <a:rPr lang="ko-KR" altLang="en-US" sz="1400" dirty="0"/>
              <a:t>내역 제출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8C27F47-BA7C-9738-4D73-1A609A64828C}"/>
              </a:ext>
            </a:extLst>
          </p:cNvPr>
          <p:cNvSpPr txBox="1"/>
          <p:nvPr/>
        </p:nvSpPr>
        <p:spPr>
          <a:xfrm>
            <a:off x="7265784" y="2390432"/>
            <a:ext cx="1296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강의 진행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AF1963-2571-362E-A8AA-DFCEE3929393}"/>
              </a:ext>
            </a:extLst>
          </p:cNvPr>
          <p:cNvSpPr txBox="1"/>
          <p:nvPr/>
        </p:nvSpPr>
        <p:spPr>
          <a:xfrm>
            <a:off x="7186860" y="3079984"/>
            <a:ext cx="20717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강의 프로그램 실행</a:t>
            </a:r>
            <a:endParaRPr lang="en-US" altLang="ko-KR" sz="1400" b="1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참석자 명부 작성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사진 촬영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188BA72-7E05-E13A-54D1-EA1C77473998}"/>
              </a:ext>
            </a:extLst>
          </p:cNvPr>
          <p:cNvSpPr txBox="1"/>
          <p:nvPr/>
        </p:nvSpPr>
        <p:spPr>
          <a:xfrm>
            <a:off x="9621234" y="2390431"/>
            <a:ext cx="1832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보고 및 회계 처리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05DA8A3-DD56-53AD-FC4F-A164F83B89F2}"/>
              </a:ext>
            </a:extLst>
          </p:cNvPr>
          <p:cNvSpPr txBox="1"/>
          <p:nvPr/>
        </p:nvSpPr>
        <p:spPr>
          <a:xfrm>
            <a:off x="9423958" y="3079984"/>
            <a:ext cx="27160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보고서 작성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/>
              <a:t>참석자 명단 첨부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/>
              <a:t>재료비 등 재정 결산 보고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/>
              <a:t>회계 담당자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김성환</a:t>
            </a:r>
            <a:r>
              <a:rPr lang="en-US" altLang="ko-KR" sz="1400" b="1" dirty="0"/>
              <a:t>/</a:t>
            </a:r>
            <a:r>
              <a:rPr lang="ko-KR" altLang="en-US" sz="1400" b="1" dirty="0" err="1"/>
              <a:t>임에스더</a:t>
            </a:r>
            <a:endParaRPr lang="ko-KR" altLang="en-US" sz="1400" b="1" dirty="0"/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3D86502F-55F4-E9AD-A421-8B7B48F72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456" y="4366650"/>
            <a:ext cx="1283831" cy="1806290"/>
          </a:xfrm>
          <a:prstGeom prst="rect">
            <a:avLst/>
          </a:pr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09AEDCA9-A14E-16F0-BA7A-2C34F604F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609" y="4407700"/>
            <a:ext cx="1343500" cy="1724189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5DFBCCFE-0397-CFD6-25D4-7B194AA60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161" y="4366650"/>
            <a:ext cx="1226740" cy="1724189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4180E350-DF1F-FB62-3AD2-159C6ABC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288" y="4385090"/>
            <a:ext cx="1231930" cy="1724189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9DA0B65E-0E6F-297D-4DB1-0BD9B76D8E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188" y="4362876"/>
            <a:ext cx="1226740" cy="1725942"/>
          </a:xfrm>
          <a:prstGeom prst="rect">
            <a:avLst/>
          </a:prstGeom>
        </p:spPr>
      </p:pic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DE91C75-AB75-3BA0-3293-D740C0BDEC94}"/>
              </a:ext>
            </a:extLst>
          </p:cNvPr>
          <p:cNvSpPr/>
          <p:nvPr/>
        </p:nvSpPr>
        <p:spPr>
          <a:xfrm>
            <a:off x="7839230" y="6226263"/>
            <a:ext cx="1235089" cy="415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카드영수증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2542563-9A30-C72D-134D-3955D8ADD0A6}"/>
              </a:ext>
            </a:extLst>
          </p:cNvPr>
          <p:cNvSpPr/>
          <p:nvPr/>
        </p:nvSpPr>
        <p:spPr>
          <a:xfrm>
            <a:off x="10602924" y="6207004"/>
            <a:ext cx="1226740" cy="435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참석자 명부 및 사인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2ED58D5-D374-2D6D-E5BE-8B098AAE13C1}"/>
              </a:ext>
            </a:extLst>
          </p:cNvPr>
          <p:cNvSpPr/>
          <p:nvPr/>
        </p:nvSpPr>
        <p:spPr>
          <a:xfrm>
            <a:off x="9164161" y="6226264"/>
            <a:ext cx="1258763" cy="4350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행사사진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E9DCCFEA-2446-25E9-4C38-7CC02AF02DD9}"/>
              </a:ext>
            </a:extLst>
          </p:cNvPr>
          <p:cNvSpPr/>
          <p:nvPr/>
        </p:nvSpPr>
        <p:spPr>
          <a:xfrm>
            <a:off x="6387020" y="6239286"/>
            <a:ext cx="1235089" cy="415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재료사진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525B270-09F3-3723-8C56-CCD6AFA62DAE}"/>
              </a:ext>
            </a:extLst>
          </p:cNvPr>
          <p:cNvSpPr/>
          <p:nvPr/>
        </p:nvSpPr>
        <p:spPr>
          <a:xfrm>
            <a:off x="4829198" y="6239286"/>
            <a:ext cx="1235089" cy="415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지출결의서</a:t>
            </a:r>
          </a:p>
        </p:txBody>
      </p:sp>
    </p:spTree>
    <p:extLst>
      <p:ext uri="{BB962C8B-B14F-4D97-AF65-F5344CB8AC3E}">
        <p14:creationId xmlns:p14="http://schemas.microsoft.com/office/powerpoint/2010/main" val="2618350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5F0B-78B5-39D8-D475-0CB80467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C59F433B-6D50-B25A-FC7B-331A8347347A}"/>
              </a:ext>
            </a:extLst>
          </p:cNvPr>
          <p:cNvSpPr/>
          <p:nvPr/>
        </p:nvSpPr>
        <p:spPr>
          <a:xfrm>
            <a:off x="148183" y="168064"/>
            <a:ext cx="2049585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요청사항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BDD1E-920F-54BB-0E80-7927E5162ABF}"/>
              </a:ext>
            </a:extLst>
          </p:cNvPr>
          <p:cNvSpPr txBox="1"/>
          <p:nvPr/>
        </p:nvSpPr>
        <p:spPr>
          <a:xfrm>
            <a:off x="686081" y="1170773"/>
            <a:ext cx="402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각 과제별 소모품 구입비 산출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35964-338F-C260-84DD-E42604ED3A0A}"/>
              </a:ext>
            </a:extLst>
          </p:cNvPr>
          <p:cNvSpPr txBox="1"/>
          <p:nvPr/>
        </p:nvSpPr>
        <p:spPr>
          <a:xfrm>
            <a:off x="233404" y="2179386"/>
            <a:ext cx="4953680" cy="339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0">
              <a:lnSpc>
                <a:spcPct val="120000"/>
              </a:lnSpc>
            </a:pP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[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클래스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2] 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지역그림그리기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하드보드지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400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6,000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4B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연필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1,050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15,750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색연필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3,750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미술용지우개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3,550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53,250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용지 및 기타미술용품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101,250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총합계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180,000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b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</a:b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[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클래스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3] 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함께밥상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(1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인가구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등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진미채볶음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고추장멸치볶음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실멸치견과볶음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밑반찬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종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주재료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(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진미채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멸치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실멸치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견과류 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) 10,000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인분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150,000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양념류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고추장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물엿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설탕 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6,000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인분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90,000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총합계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240,000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FCC9E-7195-C324-539A-1514359ACF3E}"/>
              </a:ext>
            </a:extLst>
          </p:cNvPr>
          <p:cNvSpPr txBox="1"/>
          <p:nvPr/>
        </p:nvSpPr>
        <p:spPr>
          <a:xfrm>
            <a:off x="6949897" y="1188601"/>
            <a:ext cx="306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각 과제별 사업기획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50103-A12C-FF6F-0B8D-FA9383EF85F7}"/>
              </a:ext>
            </a:extLst>
          </p:cNvPr>
          <p:cNvSpPr txBox="1"/>
          <p:nvPr/>
        </p:nvSpPr>
        <p:spPr>
          <a:xfrm>
            <a:off x="1877186" y="1668149"/>
            <a:ext cx="166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(</a:t>
            </a:r>
            <a:r>
              <a:rPr lang="ko-KR" altLang="en-US" b="1" dirty="0"/>
              <a:t>사례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786FF-12A0-E353-B940-A940A2FC9A62}"/>
              </a:ext>
            </a:extLst>
          </p:cNvPr>
          <p:cNvSpPr txBox="1"/>
          <p:nvPr/>
        </p:nvSpPr>
        <p:spPr>
          <a:xfrm>
            <a:off x="8226279" y="1994720"/>
            <a:ext cx="166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(</a:t>
            </a:r>
            <a:r>
              <a:rPr lang="ko-KR" altLang="en-US" b="1" dirty="0"/>
              <a:t>사례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A27763-3DEB-2DA6-DED7-65D60737B6FA}"/>
              </a:ext>
            </a:extLst>
          </p:cNvPr>
          <p:cNvSpPr txBox="1"/>
          <p:nvPr/>
        </p:nvSpPr>
        <p:spPr>
          <a:xfrm>
            <a:off x="6574290" y="2601994"/>
            <a:ext cx="5141459" cy="3426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0">
              <a:lnSpc>
                <a:spcPct val="130000"/>
              </a:lnSpc>
            </a:pP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클래스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 : 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함께밥상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(1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인가구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등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1.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대 상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: 1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인 가구 주민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요리에 관심 있는 일반인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2.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내 용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혼자서도 간편하고 건강한 요리 만들기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식사 시간을 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통한 사회적 교류 증진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3.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방 법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실습 중심의 요리 클래스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간편하고 영양가 있는 반찬요리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방법을 배우는 실습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소셜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다이닝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이벤트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함께 요리하고 식사를 즐기며 사회적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교류의 장 마련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레시피 공유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쉽고 건강한 반찬요리 레시피를 공유하고 함께 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실험해 보는 시간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&lt;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필요성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&gt; 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지역에 살고 있는 개인 또는 단체의 건강한 식생활 습관을 장려하고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소셜 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다이닝을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통해 사회적 고립감을 줄이며 지역 사회의 유대감을 강화하는 데 도움을 줍니다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.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68EE2671-9522-0D76-2537-D70D710A3065}"/>
              </a:ext>
            </a:extLst>
          </p:cNvPr>
          <p:cNvSpPr/>
          <p:nvPr/>
        </p:nvSpPr>
        <p:spPr>
          <a:xfrm>
            <a:off x="4547507" y="587023"/>
            <a:ext cx="2457411" cy="1850100"/>
          </a:xfrm>
          <a:prstGeom prst="wedgeRectCallout">
            <a:avLst>
              <a:gd name="adj1" fmla="val -44427"/>
              <a:gd name="adj2" fmla="val 69452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꼭 </a:t>
            </a:r>
            <a:r>
              <a:rPr lang="ko-KR" altLang="en-US" b="1" dirty="0" err="1"/>
              <a:t>써주셔야</a:t>
            </a:r>
            <a:r>
              <a:rPr lang="ko-KR" altLang="en-US" b="1" dirty="0"/>
              <a:t> 함</a:t>
            </a:r>
            <a:endParaRPr lang="en-US" altLang="ko-KR" b="1" dirty="0"/>
          </a:p>
          <a:p>
            <a:pPr algn="ctr"/>
            <a:r>
              <a:rPr lang="ko-KR" altLang="en-US" b="1" dirty="0"/>
              <a:t>과제별</a:t>
            </a:r>
            <a:endParaRPr lang="en-US" altLang="ko-KR" b="1" dirty="0"/>
          </a:p>
          <a:p>
            <a:pPr algn="ctr"/>
            <a:r>
              <a:rPr lang="ko-KR" altLang="en-US" b="1" dirty="0"/>
              <a:t>대략 </a:t>
            </a:r>
            <a:r>
              <a:rPr lang="en-US" altLang="ko-KR" b="1" dirty="0"/>
              <a:t>20~25</a:t>
            </a:r>
            <a:r>
              <a:rPr lang="ko-KR" altLang="en-US" b="1" dirty="0"/>
              <a:t>만원정도</a:t>
            </a:r>
            <a:endParaRPr lang="en-US" altLang="ko-KR" b="1" dirty="0"/>
          </a:p>
          <a:p>
            <a:pPr algn="ctr"/>
            <a:r>
              <a:rPr lang="ko-KR" altLang="en-US" b="1" dirty="0"/>
              <a:t>성과보고회 소모품</a:t>
            </a:r>
            <a:endParaRPr lang="en-US" altLang="ko-KR" b="1" dirty="0"/>
          </a:p>
          <a:p>
            <a:pPr algn="ctr"/>
            <a:r>
              <a:rPr lang="ko-KR" altLang="en-US" b="1" dirty="0"/>
              <a:t>구입비도 결정해야 함</a:t>
            </a:r>
            <a:br>
              <a:rPr lang="en-US" altLang="ko-KR" b="1" dirty="0"/>
            </a:br>
            <a:endParaRPr lang="ko-KR" altLang="en-US" b="1" dirty="0"/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E9F81308-F616-A08E-163B-965A5793CB38}"/>
              </a:ext>
            </a:extLst>
          </p:cNvPr>
          <p:cNvSpPr/>
          <p:nvPr/>
        </p:nvSpPr>
        <p:spPr>
          <a:xfrm>
            <a:off x="10019390" y="187381"/>
            <a:ext cx="2172610" cy="1850100"/>
          </a:xfrm>
          <a:prstGeom prst="wedgeRectCallout">
            <a:avLst>
              <a:gd name="adj1" fmla="val -27284"/>
              <a:gd name="adj2" fmla="val 8489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실행일정</a:t>
            </a:r>
            <a:r>
              <a:rPr lang="en-US" altLang="ko-KR" b="1" dirty="0"/>
              <a:t>(</a:t>
            </a:r>
            <a:r>
              <a:rPr lang="ko-KR" altLang="en-US" b="1" dirty="0" err="1"/>
              <a:t>몇월</a:t>
            </a:r>
            <a:r>
              <a:rPr lang="en-US" altLang="ko-KR" b="1" dirty="0"/>
              <a:t>)</a:t>
            </a:r>
            <a:r>
              <a:rPr lang="ko-KR" altLang="en-US" b="1" dirty="0"/>
              <a:t> 정해주신후</a:t>
            </a:r>
            <a:br>
              <a:rPr lang="en-US" altLang="ko-KR" b="1" dirty="0"/>
            </a:br>
            <a:r>
              <a:rPr lang="ko-KR" altLang="en-US" b="1" dirty="0"/>
              <a:t>대략 강의안</a:t>
            </a:r>
            <a:r>
              <a:rPr lang="en-US" altLang="ko-KR" b="1" dirty="0"/>
              <a:t>(</a:t>
            </a:r>
            <a:r>
              <a:rPr lang="ko-KR" altLang="en-US" b="1" dirty="0"/>
              <a:t>대상</a:t>
            </a:r>
            <a:r>
              <a:rPr lang="en-US" altLang="ko-KR" b="1" dirty="0"/>
              <a:t>, </a:t>
            </a:r>
            <a:r>
              <a:rPr lang="ko-KR" altLang="en-US" b="1" dirty="0"/>
              <a:t>내용</a:t>
            </a:r>
            <a:r>
              <a:rPr lang="en-US" altLang="ko-KR" b="1" dirty="0"/>
              <a:t>, </a:t>
            </a:r>
            <a:r>
              <a:rPr lang="ko-KR" altLang="en-US" b="1" dirty="0"/>
              <a:t>방법</a:t>
            </a:r>
            <a:r>
              <a:rPr lang="en-US" altLang="ko-KR" b="1" dirty="0"/>
              <a:t>)</a:t>
            </a:r>
            <a:r>
              <a:rPr lang="ko-KR" altLang="en-US" b="1" dirty="0"/>
              <a:t>만 설명하시고 맡기셔도 됨</a:t>
            </a:r>
          </a:p>
        </p:txBody>
      </p:sp>
    </p:spTree>
    <p:extLst>
      <p:ext uri="{BB962C8B-B14F-4D97-AF65-F5344CB8AC3E}">
        <p14:creationId xmlns:p14="http://schemas.microsoft.com/office/powerpoint/2010/main" val="409128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8E3A471-FA8E-52EF-C0ED-C4B13F495AF6}"/>
              </a:ext>
            </a:extLst>
          </p:cNvPr>
          <p:cNvSpPr/>
          <p:nvPr/>
        </p:nvSpPr>
        <p:spPr>
          <a:xfrm>
            <a:off x="0" y="-39754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2765548-E751-574A-D5C0-BBADC175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8" y="785151"/>
            <a:ext cx="1708913" cy="240436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A6EF93A8-BA6F-7B27-9C62-FFEBC9B15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718" y="785151"/>
            <a:ext cx="1710674" cy="240436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2E46EB5F-0DB5-8F9F-41A4-5555FE5D24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685" y="785151"/>
            <a:ext cx="1629812" cy="2293038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D7BFD41F-2804-BE01-C787-DC05CF0C9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086" y="785151"/>
            <a:ext cx="1638372" cy="2293038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8C706C96-16B7-3F8E-57A7-5BF91CE09DBE}"/>
              </a:ext>
            </a:extLst>
          </p:cNvPr>
          <p:cNvSpPr/>
          <p:nvPr/>
        </p:nvSpPr>
        <p:spPr>
          <a:xfrm>
            <a:off x="9724344" y="3357255"/>
            <a:ext cx="2217857" cy="3112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카드영수증 꼭 챙기기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C82DFC0-0FE0-7FEF-A4B1-B83BDACF5705}"/>
              </a:ext>
            </a:extLst>
          </p:cNvPr>
          <p:cNvSpPr/>
          <p:nvPr/>
        </p:nvSpPr>
        <p:spPr>
          <a:xfrm>
            <a:off x="7260662" y="3357255"/>
            <a:ext cx="2217857" cy="3112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참석자 명부 및 사인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2A6587-3337-86EB-F6BB-B41F94888C03}"/>
              </a:ext>
            </a:extLst>
          </p:cNvPr>
          <p:cNvSpPr/>
          <p:nvPr/>
        </p:nvSpPr>
        <p:spPr>
          <a:xfrm>
            <a:off x="2704546" y="3395774"/>
            <a:ext cx="1485185" cy="2727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행사사진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2354AD8B-CD81-0DDE-58D4-E709DA366E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449" y="785151"/>
            <a:ext cx="1786751" cy="2293038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962F96-6367-72B9-6A27-A07B91C193EA}"/>
              </a:ext>
            </a:extLst>
          </p:cNvPr>
          <p:cNvSpPr/>
          <p:nvPr/>
        </p:nvSpPr>
        <p:spPr>
          <a:xfrm>
            <a:off x="4937683" y="3395774"/>
            <a:ext cx="1508147" cy="2789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재료사진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0F119E8-A45E-3DBD-5478-2804A9F3BC04}"/>
              </a:ext>
            </a:extLst>
          </p:cNvPr>
          <p:cNvSpPr/>
          <p:nvPr/>
        </p:nvSpPr>
        <p:spPr>
          <a:xfrm>
            <a:off x="148183" y="168064"/>
            <a:ext cx="2575967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향후 </a:t>
            </a:r>
            <a:r>
              <a:rPr lang="ko-KR" altLang="en-US" sz="2000" b="1" dirty="0" err="1"/>
              <a:t>챙겨야할</a:t>
            </a:r>
            <a:r>
              <a:rPr lang="ko-KR" altLang="en-US" sz="2000" b="1" dirty="0"/>
              <a:t> 것들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4DA4C374-30CA-4434-069E-2820B0AE4A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592" y="3947555"/>
            <a:ext cx="2668004" cy="2000115"/>
          </a:xfrm>
          <a:prstGeom prst="rect">
            <a:avLst/>
          </a:prstGeom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6803F0D9-E34E-F40F-BC9D-F830D9FC2A98}"/>
              </a:ext>
            </a:extLst>
          </p:cNvPr>
          <p:cNvSpPr/>
          <p:nvPr/>
        </p:nvSpPr>
        <p:spPr>
          <a:xfrm>
            <a:off x="4842433" y="6283210"/>
            <a:ext cx="1508147" cy="2789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현수막사진</a:t>
            </a:r>
          </a:p>
        </p:txBody>
      </p:sp>
    </p:spTree>
    <p:extLst>
      <p:ext uri="{BB962C8B-B14F-4D97-AF65-F5344CB8AC3E}">
        <p14:creationId xmlns:p14="http://schemas.microsoft.com/office/powerpoint/2010/main" val="80219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69F0-4124-A624-7F08-F8E3D34F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6DEEE17-7C03-8778-CDBD-A7D018DB46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3FDBCA8-1C23-087F-7C1B-E7EA23E554FA}"/>
              </a:ext>
            </a:extLst>
          </p:cNvPr>
          <p:cNvSpPr/>
          <p:nvPr/>
        </p:nvSpPr>
        <p:spPr>
          <a:xfrm>
            <a:off x="148183" y="168064"/>
            <a:ext cx="2049585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예산안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E8F288-3729-C057-68CA-B8792C617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9679"/>
              </p:ext>
            </p:extLst>
          </p:nvPr>
        </p:nvGraphicFramePr>
        <p:xfrm>
          <a:off x="1517650" y="1291165"/>
          <a:ext cx="8836025" cy="485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09">
                  <a:extLst>
                    <a:ext uri="{9D8B030D-6E8A-4147-A177-3AD203B41FA5}">
                      <a16:colId xmlns:a16="http://schemas.microsoft.com/office/drawing/2014/main" val="4178004252"/>
                    </a:ext>
                  </a:extLst>
                </a:gridCol>
                <a:gridCol w="5909216">
                  <a:extLst>
                    <a:ext uri="{9D8B030D-6E8A-4147-A177-3AD203B41FA5}">
                      <a16:colId xmlns:a16="http://schemas.microsoft.com/office/drawing/2014/main" val="3970938817"/>
                    </a:ext>
                  </a:extLst>
                </a:gridCol>
              </a:tblGrid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비목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금액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628774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활동비</a:t>
                      </a:r>
                      <a:r>
                        <a:rPr lang="en-US" altLang="ko-KR" sz="2400" b="1" dirty="0"/>
                        <a:t>(20%)</a:t>
                      </a:r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60</a:t>
                      </a:r>
                      <a:r>
                        <a:rPr lang="ko-KR" altLang="en-US" sz="2400" b="1" dirty="0"/>
                        <a:t>만원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08718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간담회비</a:t>
                      </a:r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 err="1"/>
                        <a:t>다과비</a:t>
                      </a:r>
                      <a:r>
                        <a:rPr lang="en-US" altLang="ko-KR" sz="2400" b="1" dirty="0"/>
                        <a:t>) 30%</a:t>
                      </a:r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90</a:t>
                      </a:r>
                      <a:r>
                        <a:rPr lang="ko-KR" altLang="en-US" sz="2400" b="1" dirty="0"/>
                        <a:t>만원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302873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홍보인쇄비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10</a:t>
                      </a:r>
                      <a:r>
                        <a:rPr lang="ko-KR" altLang="en-US" sz="2400" b="1" dirty="0"/>
                        <a:t>만원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409754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소모품구입비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/>
                        <a:t>140</a:t>
                      </a:r>
                      <a:r>
                        <a:rPr lang="ko-KR" altLang="en-US" sz="2400" b="1"/>
                        <a:t>만원</a:t>
                      </a:r>
                      <a:endParaRPr lang="ko-KR" alt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321846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300</a:t>
                      </a:r>
                      <a:r>
                        <a:rPr lang="ko-KR" altLang="en-US" sz="2400" b="1" dirty="0"/>
                        <a:t>만원 </a:t>
                      </a:r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/>
                        <a:t>성과보고회도 포함되어야 함</a:t>
                      </a:r>
                      <a:r>
                        <a:rPr lang="en-US" altLang="ko-KR" sz="2400" b="1" dirty="0"/>
                        <a:t>)</a:t>
                      </a:r>
                      <a:endParaRPr lang="ko-KR" alt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891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552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596</Words>
  <Application>Microsoft Office PowerPoint</Application>
  <PresentationFormat>와이드스크린</PresentationFormat>
  <Paragraphs>183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휴먼명조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36</cp:revision>
  <dcterms:created xsi:type="dcterms:W3CDTF">2025-03-06T12:05:38Z</dcterms:created>
  <dcterms:modified xsi:type="dcterms:W3CDTF">2025-11-06T11:56:59Z</dcterms:modified>
</cp:coreProperties>
</file>